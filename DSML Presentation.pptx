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embeddedFontLst>
    <p:embeddedFont>
      <p:font typeface="Georgia" panose="02040502050405020303" pitchFamily="18" charset="0"/>
      <p:regular r:id="rId7"/>
      <p:bold r:id="rId8"/>
      <p:italic r:id="rId9"/>
      <p:boldItalic r:id="rId10"/>
    </p:embeddedFont>
    <p:embeddedFont>
      <p:font typeface="Impact" panose="020B0806030902050204" pitchFamily="34" charset="0"/>
      <p:regular r:id="rId11"/>
    </p:embeddedFont>
    <p:embeddedFont>
      <p:font typeface="Lobster" panose="00000500000000000000" pitchFamily="2" charset="0"/>
      <p:regular r:id="rId12"/>
    </p:embeddedFont>
    <p:embeddedFont>
      <p:font typeface="Nordique Inline" panose="00000500000000000000" pitchFamily="2" charset="0"/>
      <p:regular r:id="rId13"/>
    </p:embeddedFont>
    <p:embeddedFont>
      <p:font typeface="Ravie" panose="04040805050809020602" pitchFamily="82" charset="0"/>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18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1805ba35c8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1805ba35c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1805ba35c8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1805ba35c8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1729c29af9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1729c29af9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1805ba35c8_2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1805ba35c8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endParaRPr/>
          </a:p>
        </p:txBody>
      </p:sp>
      <p:sp>
        <p:nvSpPr>
          <p:cNvPr id="55" name="Google Shape;55;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6" name="Google Shape;56;p1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20000">
              <a:schemeClr val="accent1">
                <a:lumMod val="60000"/>
                <a:lumOff val="40000"/>
              </a:schemeClr>
            </a:gs>
            <a:gs pos="80000">
              <a:schemeClr val="accent1">
                <a:lumMod val="60000"/>
                <a:lumOff val="40000"/>
              </a:schemeClr>
            </a:gs>
            <a:gs pos="100000">
              <a:schemeClr val="accent1">
                <a:lumMod val="40000"/>
                <a:lumOff val="60000"/>
              </a:schemeClr>
            </a:gs>
          </a:gsLst>
          <a:lin ang="5400000" scaled="1"/>
        </a:gradFill>
        <a:effectLst/>
      </p:bgPr>
    </p:bg>
    <p:spTree>
      <p:nvGrpSpPr>
        <p:cNvPr id="1" name="Shape 60"/>
        <p:cNvGrpSpPr/>
        <p:nvPr/>
      </p:nvGrpSpPr>
      <p:grpSpPr>
        <a:xfrm>
          <a:off x="0" y="0"/>
          <a:ext cx="0" cy="0"/>
          <a:chOff x="0" y="0"/>
          <a:chExt cx="0" cy="0"/>
        </a:xfrm>
      </p:grpSpPr>
      <p:sp>
        <p:nvSpPr>
          <p:cNvPr id="62" name="Google Shape;62;p14"/>
          <p:cNvSpPr txBox="1">
            <a:spLocks noGrp="1"/>
          </p:cNvSpPr>
          <p:nvPr>
            <p:ph type="body" idx="1"/>
          </p:nvPr>
        </p:nvSpPr>
        <p:spPr>
          <a:xfrm>
            <a:off x="311700" y="2426225"/>
            <a:ext cx="5001900" cy="2142900"/>
          </a:xfrm>
          <a:prstGeom prst="rect">
            <a:avLst/>
          </a:prstGeom>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None/>
            </a:pPr>
            <a:r>
              <a:rPr lang="en" sz="1300" dirty="0">
                <a:solidFill>
                  <a:schemeClr val="tx1"/>
                </a:solidFill>
                <a:latin typeface="Georgia"/>
                <a:ea typeface="Georgia"/>
                <a:cs typeface="Georgia"/>
                <a:sym typeface="Georgia"/>
              </a:rPr>
              <a:t>Contained 2,500 random samples from the data</a:t>
            </a:r>
            <a:endParaRPr sz="1300" dirty="0">
              <a:solidFill>
                <a:schemeClr val="tx1"/>
              </a:solidFill>
              <a:latin typeface="Georgia"/>
              <a:ea typeface="Georgia"/>
              <a:cs typeface="Georgia"/>
              <a:sym typeface="Georgia"/>
            </a:endParaRPr>
          </a:p>
          <a:p>
            <a:pPr marL="0" lvl="0" indent="0" algn="l" rtl="0">
              <a:lnSpc>
                <a:spcPct val="100000"/>
              </a:lnSpc>
              <a:spcBef>
                <a:spcPts val="1200"/>
              </a:spcBef>
              <a:spcAft>
                <a:spcPts val="0"/>
              </a:spcAft>
              <a:buNone/>
            </a:pPr>
            <a:r>
              <a:rPr lang="en" sz="1300" b="1" dirty="0">
                <a:solidFill>
                  <a:schemeClr val="tx1"/>
                </a:solidFill>
                <a:latin typeface="Georgia"/>
                <a:ea typeface="Georgia"/>
                <a:cs typeface="Georgia"/>
                <a:sym typeface="Georgia"/>
              </a:rPr>
              <a:t>Which predictors did we use: </a:t>
            </a:r>
            <a:r>
              <a:rPr lang="en" sz="1300" dirty="0">
                <a:solidFill>
                  <a:schemeClr val="tx1"/>
                </a:solidFill>
                <a:latin typeface="Georgia"/>
                <a:ea typeface="Georgia"/>
                <a:cs typeface="Georgia"/>
                <a:sym typeface="Georgia"/>
              </a:rPr>
              <a:t>Age, time the crime occured, victim descent, victim premise, latitude, and latitude</a:t>
            </a:r>
            <a:endParaRPr sz="1300" b="1" dirty="0">
              <a:solidFill>
                <a:schemeClr val="tx1"/>
              </a:solidFill>
              <a:latin typeface="Georgia"/>
              <a:ea typeface="Georgia"/>
              <a:cs typeface="Georgia"/>
              <a:sym typeface="Georgia"/>
            </a:endParaRPr>
          </a:p>
          <a:p>
            <a:pPr marL="0" lvl="0" indent="0" algn="l" rtl="0">
              <a:lnSpc>
                <a:spcPct val="100000"/>
              </a:lnSpc>
              <a:spcBef>
                <a:spcPts val="1200"/>
              </a:spcBef>
              <a:spcAft>
                <a:spcPts val="0"/>
              </a:spcAft>
              <a:buClr>
                <a:schemeClr val="dk1"/>
              </a:buClr>
              <a:buSzPts val="1100"/>
              <a:buFont typeface="Arial"/>
              <a:buNone/>
            </a:pPr>
            <a:r>
              <a:rPr lang="en" sz="1300" b="1" dirty="0">
                <a:solidFill>
                  <a:schemeClr val="tx1"/>
                </a:solidFill>
                <a:latin typeface="Georgia"/>
                <a:ea typeface="Georgia"/>
                <a:cs typeface="Georgia"/>
                <a:sym typeface="Georgia"/>
              </a:rPr>
              <a:t>Variables that are were not significant: </a:t>
            </a:r>
            <a:r>
              <a:rPr lang="en" sz="1300" dirty="0">
                <a:solidFill>
                  <a:schemeClr val="tx1"/>
                </a:solidFill>
                <a:latin typeface="Georgia"/>
                <a:ea typeface="Georgia"/>
                <a:cs typeface="Georgia"/>
                <a:sym typeface="Georgia"/>
              </a:rPr>
              <a:t>Time occurred, latitude, longitude</a:t>
            </a:r>
            <a:r>
              <a:rPr lang="en" sz="1300">
                <a:solidFill>
                  <a:schemeClr val="tx1"/>
                </a:solidFill>
                <a:latin typeface="Georgia"/>
                <a:ea typeface="Georgia"/>
                <a:cs typeface="Georgia"/>
                <a:sym typeface="Georgia"/>
              </a:rPr>
              <a:t>, and certain </a:t>
            </a:r>
            <a:r>
              <a:rPr lang="en" sz="1300" dirty="0">
                <a:solidFill>
                  <a:schemeClr val="tx1"/>
                </a:solidFill>
                <a:latin typeface="Georgia"/>
                <a:ea typeface="Georgia"/>
                <a:cs typeface="Georgia"/>
                <a:sym typeface="Georgia"/>
              </a:rPr>
              <a:t>premises</a:t>
            </a:r>
            <a:endParaRPr sz="1300" dirty="0">
              <a:solidFill>
                <a:schemeClr val="tx1"/>
              </a:solidFill>
              <a:latin typeface="Georgia"/>
              <a:ea typeface="Georgia"/>
              <a:cs typeface="Georgia"/>
              <a:sym typeface="Georgia"/>
            </a:endParaRPr>
          </a:p>
          <a:p>
            <a:pPr marL="0" lvl="0" indent="0" algn="l" rtl="0">
              <a:lnSpc>
                <a:spcPct val="100000"/>
              </a:lnSpc>
              <a:spcBef>
                <a:spcPts val="1200"/>
              </a:spcBef>
              <a:spcAft>
                <a:spcPts val="0"/>
              </a:spcAft>
              <a:buNone/>
            </a:pPr>
            <a:r>
              <a:rPr lang="en" sz="1300" b="1" dirty="0">
                <a:solidFill>
                  <a:schemeClr val="tx1"/>
                </a:solidFill>
                <a:latin typeface="Georgia"/>
                <a:ea typeface="Georgia"/>
                <a:cs typeface="Georgia"/>
                <a:sym typeface="Georgia"/>
              </a:rPr>
              <a:t>Error Rate: </a:t>
            </a:r>
            <a:r>
              <a:rPr lang="en" sz="1300" dirty="0">
                <a:solidFill>
                  <a:schemeClr val="tx1"/>
                </a:solidFill>
                <a:latin typeface="Georgia"/>
                <a:ea typeface="Georgia"/>
                <a:cs typeface="Georgia"/>
                <a:sym typeface="Georgia"/>
              </a:rPr>
              <a:t>44.71653%</a:t>
            </a:r>
            <a:endParaRPr sz="1300" dirty="0">
              <a:solidFill>
                <a:schemeClr val="tx1"/>
              </a:solidFill>
              <a:latin typeface="Georgia"/>
              <a:ea typeface="Georgia"/>
              <a:cs typeface="Georgia"/>
              <a:sym typeface="Georgia"/>
            </a:endParaRPr>
          </a:p>
          <a:p>
            <a:pPr marL="457200" lvl="0" indent="-311150" algn="l" rtl="0">
              <a:lnSpc>
                <a:spcPct val="100000"/>
              </a:lnSpc>
              <a:spcBef>
                <a:spcPts val="1200"/>
              </a:spcBef>
              <a:spcAft>
                <a:spcPts val="0"/>
              </a:spcAft>
              <a:buSzPts val="1300"/>
              <a:buFont typeface="Georgia"/>
              <a:buChar char="●"/>
            </a:pPr>
            <a:r>
              <a:rPr lang="en" sz="1300" dirty="0">
                <a:solidFill>
                  <a:schemeClr val="tx1"/>
                </a:solidFill>
                <a:latin typeface="Georgia"/>
                <a:ea typeface="Georgia"/>
                <a:cs typeface="Georgia"/>
                <a:sym typeface="Georgia"/>
              </a:rPr>
              <a:t>Method Used for finding this: 10-fold cross validation</a:t>
            </a:r>
            <a:endParaRPr sz="1300" dirty="0">
              <a:solidFill>
                <a:schemeClr val="tx1"/>
              </a:solidFill>
              <a:latin typeface="Georgia"/>
              <a:ea typeface="Georgia"/>
              <a:cs typeface="Georgia"/>
              <a:sym typeface="Georgia"/>
            </a:endParaRPr>
          </a:p>
        </p:txBody>
      </p:sp>
      <p:pic>
        <p:nvPicPr>
          <p:cNvPr id="63" name="Google Shape;63;p14"/>
          <p:cNvPicPr preferRelativeResize="0"/>
          <p:nvPr/>
        </p:nvPicPr>
        <p:blipFill>
          <a:blip r:embed="rId3">
            <a:alphaModFix/>
          </a:blip>
          <a:stretch>
            <a:fillRect/>
          </a:stretch>
        </p:blipFill>
        <p:spPr>
          <a:xfrm>
            <a:off x="5401735" y="1063849"/>
            <a:ext cx="3525600" cy="3756120"/>
          </a:xfrm>
          <a:prstGeom prst="rect">
            <a:avLst/>
          </a:prstGeom>
          <a:noFill/>
          <a:ln>
            <a:noFill/>
          </a:ln>
        </p:spPr>
      </p:pic>
      <p:pic>
        <p:nvPicPr>
          <p:cNvPr id="64" name="Google Shape;64;p14"/>
          <p:cNvPicPr preferRelativeResize="0"/>
          <p:nvPr/>
        </p:nvPicPr>
        <p:blipFill>
          <a:blip r:embed="rId4">
            <a:alphaModFix/>
          </a:blip>
          <a:stretch>
            <a:fillRect/>
          </a:stretch>
        </p:blipFill>
        <p:spPr>
          <a:xfrm>
            <a:off x="216665" y="1063849"/>
            <a:ext cx="5001900" cy="1256100"/>
          </a:xfrm>
          <a:prstGeom prst="rect">
            <a:avLst/>
          </a:prstGeom>
          <a:noFill/>
          <a:ln>
            <a:noFill/>
          </a:ln>
        </p:spPr>
      </p:pic>
      <p:sp>
        <p:nvSpPr>
          <p:cNvPr id="2" name="TextBox 1">
            <a:extLst>
              <a:ext uri="{FF2B5EF4-FFF2-40B4-BE49-F238E27FC236}">
                <a16:creationId xmlns:a16="http://schemas.microsoft.com/office/drawing/2014/main" id="{4070F286-89BD-4081-B4C9-F91CFBF58863}"/>
              </a:ext>
            </a:extLst>
          </p:cNvPr>
          <p:cNvSpPr txBox="1"/>
          <p:nvPr/>
        </p:nvSpPr>
        <p:spPr>
          <a:xfrm>
            <a:off x="1036416" y="126577"/>
            <a:ext cx="7071167" cy="830997"/>
          </a:xfrm>
          <a:prstGeom prst="rect">
            <a:avLst/>
          </a:prstGeom>
          <a:noFill/>
        </p:spPr>
        <p:txBody>
          <a:bodyPr wrap="none" rtlCol="0">
            <a:spAutoFit/>
          </a:bodyPr>
          <a:lstStyle/>
          <a:p>
            <a:r>
              <a:rPr lang="en" sz="4800" dirty="0">
                <a:latin typeface="Nordique Inline" panose="00000500000000000000" pitchFamily="2" charset="0"/>
                <a:ea typeface="Impact"/>
                <a:cs typeface="Impact"/>
                <a:sym typeface="Impact"/>
              </a:rPr>
              <a:t>Logistic Regression Model</a:t>
            </a:r>
            <a:endParaRPr lang="en-US" sz="4800" dirty="0">
              <a:latin typeface="Nordique Inline" panose="00000500000000000000" pitchFamily="2" charset="0"/>
            </a:endParaRPr>
          </a:p>
        </p:txBody>
      </p:sp>
    </p:spTree>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778302" y="121016"/>
            <a:ext cx="7587395" cy="775200"/>
          </a:xfrm>
          <a:prstGeom prst="rect">
            <a:avLst/>
          </a:prstGeom>
          <a:solidFill>
            <a:srgbClr val="FFFFFF">
              <a:alpha val="40000"/>
            </a:srgbClr>
          </a:solidFill>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39285"/>
              <a:buFont typeface="Arial"/>
              <a:buNone/>
            </a:pPr>
            <a:r>
              <a:rPr lang="en" sz="4400" dirty="0">
                <a:latin typeface="Ravie" panose="04040805050809020602" pitchFamily="82" charset="0"/>
                <a:ea typeface="Impact"/>
                <a:cs typeface="Impact"/>
                <a:sym typeface="Impact"/>
              </a:rPr>
              <a:t>Random Forest Model</a:t>
            </a:r>
            <a:endParaRPr sz="4400" dirty="0">
              <a:latin typeface="Ravie" panose="04040805050809020602" pitchFamily="82" charset="0"/>
              <a:ea typeface="Impact"/>
              <a:cs typeface="Impact"/>
              <a:sym typeface="Impact"/>
            </a:endParaRPr>
          </a:p>
          <a:p>
            <a:pPr marL="0" lvl="0" indent="0" algn="ctr" rtl="0">
              <a:spcBef>
                <a:spcPts val="0"/>
              </a:spcBef>
              <a:spcAft>
                <a:spcPts val="0"/>
              </a:spcAft>
              <a:buNone/>
            </a:pPr>
            <a:endParaRPr dirty="0"/>
          </a:p>
        </p:txBody>
      </p:sp>
      <p:pic>
        <p:nvPicPr>
          <p:cNvPr id="70" name="Google Shape;70;p15"/>
          <p:cNvPicPr preferRelativeResize="0"/>
          <p:nvPr/>
        </p:nvPicPr>
        <p:blipFill>
          <a:blip r:embed="rId4">
            <a:alphaModFix/>
          </a:blip>
          <a:stretch>
            <a:fillRect/>
          </a:stretch>
        </p:blipFill>
        <p:spPr>
          <a:xfrm>
            <a:off x="4019682" y="1488793"/>
            <a:ext cx="4930449" cy="2165534"/>
          </a:xfrm>
          <a:prstGeom prst="rect">
            <a:avLst/>
          </a:prstGeom>
          <a:noFill/>
          <a:ln>
            <a:noFill/>
          </a:ln>
        </p:spPr>
      </p:pic>
      <p:sp>
        <p:nvSpPr>
          <p:cNvPr id="71" name="Google Shape;71;p15"/>
          <p:cNvSpPr txBox="1"/>
          <p:nvPr/>
        </p:nvSpPr>
        <p:spPr>
          <a:xfrm>
            <a:off x="193000" y="1060042"/>
            <a:ext cx="3825813" cy="3748500"/>
          </a:xfrm>
          <a:prstGeom prst="rect">
            <a:avLst/>
          </a:prstGeom>
          <a:solidFill>
            <a:srgbClr val="FFFFFF">
              <a:alpha val="41176"/>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tx1"/>
                </a:solidFill>
                <a:latin typeface="Georgia"/>
                <a:ea typeface="Georgia"/>
                <a:cs typeface="Georgia"/>
                <a:sym typeface="Georgia"/>
              </a:rPr>
              <a:t>Key Advantages of Random Forests: </a:t>
            </a:r>
            <a:endParaRPr sz="1300" b="1" dirty="0">
              <a:solidFill>
                <a:schemeClr val="tx1"/>
              </a:solidFill>
              <a:latin typeface="Georgia"/>
              <a:ea typeface="Georgia"/>
              <a:cs typeface="Georgia"/>
              <a:sym typeface="Georgia"/>
            </a:endParaRPr>
          </a:p>
          <a:p>
            <a:pPr marL="457200" lvl="0" indent="-311150" algn="l" rtl="0">
              <a:spcBef>
                <a:spcPts val="120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Handles categorical/numerical variables. </a:t>
            </a:r>
            <a:endParaRPr sz="1300" dirty="0">
              <a:solidFill>
                <a:schemeClr val="tx1"/>
              </a:solidFill>
              <a:latin typeface="Georgia"/>
              <a:ea typeface="Georgia"/>
              <a:cs typeface="Georgia"/>
              <a:sym typeface="Georgia"/>
            </a:endParaRPr>
          </a:p>
          <a:p>
            <a:pPr marL="457200" lvl="0" indent="-311150" algn="l" rtl="0">
              <a:spcBef>
                <a:spcPts val="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Reduces overfitting </a:t>
            </a:r>
            <a:endParaRPr sz="1300" dirty="0">
              <a:solidFill>
                <a:schemeClr val="tx1"/>
              </a:solidFill>
              <a:latin typeface="Georgia"/>
              <a:ea typeface="Georgia"/>
              <a:cs typeface="Georgia"/>
              <a:sym typeface="Georgia"/>
            </a:endParaRPr>
          </a:p>
          <a:p>
            <a:pPr marL="457200" lvl="0" indent="-311150" algn="l" rtl="0">
              <a:spcBef>
                <a:spcPts val="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Provides insights into variable importance.</a:t>
            </a:r>
            <a:endParaRPr sz="1300" dirty="0">
              <a:solidFill>
                <a:schemeClr val="tx1"/>
              </a:solidFill>
              <a:latin typeface="Georgia"/>
              <a:ea typeface="Georgia"/>
              <a:cs typeface="Georgia"/>
              <a:sym typeface="Georgia"/>
            </a:endParaRPr>
          </a:p>
          <a:p>
            <a:pPr marL="0" lvl="0" indent="0" algn="l" rtl="0">
              <a:spcBef>
                <a:spcPts val="1200"/>
              </a:spcBef>
              <a:spcAft>
                <a:spcPts val="0"/>
              </a:spcAft>
              <a:buNone/>
            </a:pPr>
            <a:r>
              <a:rPr lang="en" sz="1300" b="1" dirty="0">
                <a:solidFill>
                  <a:schemeClr val="tx1"/>
                </a:solidFill>
                <a:latin typeface="Georgia"/>
                <a:ea typeface="Georgia"/>
                <a:cs typeface="Georgia"/>
                <a:sym typeface="Georgia"/>
              </a:rPr>
              <a:t>Model Details: </a:t>
            </a:r>
            <a:endParaRPr sz="1300" dirty="0">
              <a:solidFill>
                <a:schemeClr val="tx1"/>
              </a:solidFill>
              <a:latin typeface="Georgia"/>
              <a:ea typeface="Georgia"/>
              <a:cs typeface="Georgia"/>
              <a:sym typeface="Georgia"/>
            </a:endParaRPr>
          </a:p>
          <a:p>
            <a:pPr marL="457200" lvl="0" indent="-311150" algn="l" rtl="0">
              <a:spcBef>
                <a:spcPts val="120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Hyperparameters: 500 trees, mtry = √</a:t>
            </a:r>
            <a:r>
              <a:rPr lang="en" sz="1300" i="1" dirty="0">
                <a:solidFill>
                  <a:schemeClr val="tx1"/>
                </a:solidFill>
                <a:latin typeface="Georgia"/>
                <a:ea typeface="Georgia"/>
                <a:cs typeface="Georgia"/>
                <a:sym typeface="Georgia"/>
              </a:rPr>
              <a:t>p</a:t>
            </a:r>
            <a:r>
              <a:rPr lang="en" sz="1300" dirty="0">
                <a:solidFill>
                  <a:schemeClr val="tx1"/>
                </a:solidFill>
                <a:latin typeface="Georgia"/>
                <a:ea typeface="Georgia"/>
                <a:cs typeface="Georgia"/>
                <a:sym typeface="Georgia"/>
              </a:rPr>
              <a:t>.</a:t>
            </a:r>
            <a:endParaRPr sz="1300" dirty="0">
              <a:solidFill>
                <a:schemeClr val="tx1"/>
              </a:solidFill>
              <a:latin typeface="Georgia"/>
              <a:ea typeface="Georgia"/>
              <a:cs typeface="Georgia"/>
              <a:sym typeface="Georgia"/>
            </a:endParaRPr>
          </a:p>
          <a:p>
            <a:pPr marL="457200" lvl="0" indent="-311150" algn="l" rtl="0">
              <a:spcBef>
                <a:spcPts val="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Achieved </a:t>
            </a:r>
            <a:r>
              <a:rPr lang="en" sz="1300" b="1" dirty="0">
                <a:solidFill>
                  <a:schemeClr val="tx1"/>
                </a:solidFill>
                <a:latin typeface="Georgia"/>
                <a:ea typeface="Georgia"/>
                <a:cs typeface="Georgia"/>
                <a:sym typeface="Georgia"/>
              </a:rPr>
              <a:t>mean test error of 25.11%</a:t>
            </a:r>
            <a:r>
              <a:rPr lang="en" sz="1300" dirty="0">
                <a:solidFill>
                  <a:schemeClr val="tx1"/>
                </a:solidFill>
                <a:latin typeface="Georgia"/>
                <a:ea typeface="Georgia"/>
                <a:cs typeface="Georgia"/>
                <a:sym typeface="Georgia"/>
              </a:rPr>
              <a:t>.</a:t>
            </a:r>
            <a:endParaRPr sz="1300" dirty="0">
              <a:solidFill>
                <a:schemeClr val="tx1"/>
              </a:solidFill>
              <a:latin typeface="Georgia"/>
              <a:ea typeface="Georgia"/>
              <a:cs typeface="Georgia"/>
              <a:sym typeface="Georgia"/>
            </a:endParaRPr>
          </a:p>
          <a:p>
            <a:pPr marL="0" lvl="0" indent="0" algn="l" rtl="0">
              <a:spcBef>
                <a:spcPts val="1200"/>
              </a:spcBef>
              <a:spcAft>
                <a:spcPts val="0"/>
              </a:spcAft>
              <a:buNone/>
            </a:pPr>
            <a:r>
              <a:rPr lang="en" sz="1300" b="1" dirty="0">
                <a:solidFill>
                  <a:schemeClr val="tx1"/>
                </a:solidFill>
                <a:latin typeface="Georgia"/>
                <a:ea typeface="Georgia"/>
                <a:cs typeface="Georgia"/>
                <a:sym typeface="Georgia"/>
              </a:rPr>
              <a:t>Variable Importance:</a:t>
            </a:r>
            <a:endParaRPr sz="1300" b="1" dirty="0">
              <a:solidFill>
                <a:schemeClr val="tx1"/>
              </a:solidFill>
              <a:latin typeface="Georgia"/>
              <a:ea typeface="Georgia"/>
              <a:cs typeface="Georgia"/>
              <a:sym typeface="Georgia"/>
            </a:endParaRPr>
          </a:p>
          <a:p>
            <a:pPr marL="457200" lvl="0" indent="-311150" algn="l" rtl="0">
              <a:spcBef>
                <a:spcPts val="1200"/>
              </a:spcBef>
              <a:spcAft>
                <a:spcPts val="0"/>
              </a:spcAft>
              <a:buClr>
                <a:schemeClr val="dk2"/>
              </a:buClr>
              <a:buSzPts val="1300"/>
              <a:buFont typeface="Georgia"/>
              <a:buChar char="●"/>
            </a:pPr>
            <a:r>
              <a:rPr lang="en" sz="1300" b="1" dirty="0">
                <a:solidFill>
                  <a:schemeClr val="tx1"/>
                </a:solidFill>
                <a:latin typeface="Georgia"/>
                <a:ea typeface="Georgia"/>
                <a:cs typeface="Georgia"/>
                <a:sym typeface="Georgia"/>
              </a:rPr>
              <a:t>Top predictors</a:t>
            </a:r>
            <a:endParaRPr sz="1300" b="1" dirty="0">
              <a:solidFill>
                <a:schemeClr val="tx1"/>
              </a:solidFill>
              <a:latin typeface="Georgia"/>
              <a:ea typeface="Georgia"/>
              <a:cs typeface="Georgia"/>
              <a:sym typeface="Georgia"/>
            </a:endParaRPr>
          </a:p>
          <a:p>
            <a:pPr marL="914400" lvl="1" indent="-311150" algn="l" rtl="0">
              <a:spcBef>
                <a:spcPts val="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TIME.OCC (time of occurrence).</a:t>
            </a:r>
            <a:endParaRPr sz="1300" dirty="0">
              <a:solidFill>
                <a:schemeClr val="tx1"/>
              </a:solidFill>
              <a:latin typeface="Georgia"/>
              <a:ea typeface="Georgia"/>
              <a:cs typeface="Georgia"/>
              <a:sym typeface="Georgia"/>
            </a:endParaRPr>
          </a:p>
          <a:p>
            <a:pPr marL="914400" lvl="1" indent="-311150" algn="l" rtl="0">
              <a:spcBef>
                <a:spcPts val="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Vict.Age (victim’s age).</a:t>
            </a:r>
            <a:endParaRPr sz="1300" dirty="0">
              <a:solidFill>
                <a:schemeClr val="tx1"/>
              </a:solidFill>
              <a:latin typeface="Georgia"/>
              <a:ea typeface="Georgia"/>
              <a:cs typeface="Georgia"/>
              <a:sym typeface="Georgia"/>
            </a:endParaRPr>
          </a:p>
          <a:p>
            <a:pPr marL="914400" lvl="1" indent="-311150" algn="l" rtl="0">
              <a:spcBef>
                <a:spcPts val="0"/>
              </a:spcBef>
              <a:spcAft>
                <a:spcPts val="0"/>
              </a:spcAft>
              <a:buClr>
                <a:schemeClr val="dk2"/>
              </a:buClr>
              <a:buSzPts val="1300"/>
              <a:buFont typeface="Georgia"/>
              <a:buChar char="○"/>
            </a:pPr>
            <a:r>
              <a:rPr lang="en" sz="1300" dirty="0">
                <a:solidFill>
                  <a:schemeClr val="tx1"/>
                </a:solidFill>
                <a:latin typeface="Georgia"/>
                <a:ea typeface="Georgia"/>
                <a:cs typeface="Georgia"/>
                <a:sym typeface="Georgia"/>
              </a:rPr>
              <a:t>Premis.Cd (location type).</a:t>
            </a:r>
            <a:endParaRPr sz="1300" dirty="0">
              <a:solidFill>
                <a:schemeClr val="tx1"/>
              </a:solidFill>
              <a:latin typeface="Georgia"/>
              <a:ea typeface="Georgia"/>
              <a:cs typeface="Georgia"/>
              <a:sym typeface="Georgia"/>
            </a:endParaRPr>
          </a:p>
          <a:p>
            <a:pPr marL="0" lvl="0" indent="0" algn="l" rtl="0">
              <a:spcBef>
                <a:spcPts val="1200"/>
              </a:spcBef>
              <a:spcAft>
                <a:spcPts val="1200"/>
              </a:spcAft>
              <a:buClr>
                <a:schemeClr val="dk1"/>
              </a:buClr>
              <a:buSzPts val="1100"/>
              <a:buFont typeface="Arial"/>
              <a:buNone/>
            </a:pPr>
            <a:endParaRPr sz="1300" dirty="0">
              <a:solidFill>
                <a:schemeClr val="tx1"/>
              </a:solidFill>
              <a:latin typeface="Georgia"/>
              <a:ea typeface="Georgia"/>
              <a:cs typeface="Georgia"/>
              <a:sym typeface="Georgia"/>
            </a:endParaRPr>
          </a:p>
        </p:txBody>
      </p:sp>
      <p:pic>
        <p:nvPicPr>
          <p:cNvPr id="72" name="Google Shape;72;p15"/>
          <p:cNvPicPr preferRelativeResize="0"/>
          <p:nvPr/>
        </p:nvPicPr>
        <p:blipFill>
          <a:blip r:embed="rId5">
            <a:alphaModFix/>
          </a:blip>
          <a:stretch>
            <a:fillRect/>
          </a:stretch>
        </p:blipFill>
        <p:spPr>
          <a:xfrm>
            <a:off x="4020551" y="1203101"/>
            <a:ext cx="4930449" cy="285692"/>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600">
        <p:wipe dir="r"/>
      </p:transition>
    </mc:Choice>
    <mc:Fallback>
      <p:transition spd="slow">
        <p:wipe dir="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699" y="523309"/>
            <a:ext cx="8578142" cy="820749"/>
          </a:xfrm>
          <a:prstGeom prst="rect">
            <a:avLst/>
          </a:prstGeom>
          <a:solidFill>
            <a:srgbClr val="FFFF00">
              <a:alpha val="50000"/>
            </a:srgbClr>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5300" dirty="0">
                <a:latin typeface="Impact" panose="020B0806030902050204" pitchFamily="34" charset="0"/>
                <a:ea typeface="Impact"/>
                <a:cs typeface="Impact"/>
                <a:sym typeface="Impact"/>
              </a:rPr>
              <a:t>Conclusion</a:t>
            </a:r>
            <a:endParaRPr dirty="0">
              <a:latin typeface="Impact" panose="020B0806030902050204" pitchFamily="34" charset="0"/>
              <a:ea typeface="Impact"/>
              <a:cs typeface="Impact"/>
              <a:sym typeface="Impact"/>
            </a:endParaRPr>
          </a:p>
        </p:txBody>
      </p:sp>
      <p:sp>
        <p:nvSpPr>
          <p:cNvPr id="79" name="Google Shape;79;p16"/>
          <p:cNvSpPr txBox="1">
            <a:spLocks noGrp="1"/>
          </p:cNvSpPr>
          <p:nvPr>
            <p:ph type="body" idx="1"/>
          </p:nvPr>
        </p:nvSpPr>
        <p:spPr>
          <a:xfrm>
            <a:off x="311699" y="1344058"/>
            <a:ext cx="8578142" cy="1282776"/>
          </a:xfrm>
          <a:prstGeom prst="rect">
            <a:avLst/>
          </a:prstGeom>
          <a:solidFill>
            <a:srgbClr val="FFFF00">
              <a:alpha val="50000"/>
            </a:srgbClr>
          </a:solidFill>
        </p:spPr>
        <p:txBody>
          <a:bodyPr spcFirstLastPara="1" wrap="square" lIns="91425" tIns="91425" rIns="91425" bIns="91425" anchor="t" anchorCtr="0">
            <a:normAutofit lnSpcReduction="10000"/>
          </a:bodyPr>
          <a:lstStyle/>
          <a:p>
            <a:pPr marL="0" indent="0" algn="ctr">
              <a:lnSpc>
                <a:spcPct val="100000"/>
              </a:lnSpc>
              <a:buSzPts val="1018"/>
              <a:buNone/>
            </a:pPr>
            <a:r>
              <a:rPr lang="en-US" sz="2500" dirty="0">
                <a:solidFill>
                  <a:schemeClr val="tx1"/>
                </a:solidFill>
                <a:latin typeface="Lobster"/>
                <a:ea typeface="Lobster"/>
                <a:cs typeface="Lobster"/>
                <a:sym typeface="Lobster"/>
              </a:rPr>
              <a:t>Which model to use</a:t>
            </a:r>
            <a:endParaRPr lang="en" sz="2500" b="1" dirty="0">
              <a:solidFill>
                <a:schemeClr val="tx1"/>
              </a:solidFill>
              <a:latin typeface="Courier New"/>
              <a:ea typeface="Courier New"/>
              <a:cs typeface="Courier New"/>
              <a:sym typeface="Courier New"/>
            </a:endParaRPr>
          </a:p>
          <a:p>
            <a:pPr marL="0" lvl="0" indent="0" algn="ctr" rtl="0">
              <a:lnSpc>
                <a:spcPct val="100000"/>
              </a:lnSpc>
              <a:spcBef>
                <a:spcPts val="0"/>
              </a:spcBef>
              <a:buSzPts val="1018"/>
              <a:buNone/>
            </a:pPr>
            <a:r>
              <a:rPr lang="en" sz="1750" b="1" dirty="0">
                <a:solidFill>
                  <a:schemeClr val="tx1"/>
                </a:solidFill>
                <a:latin typeface="Courier New"/>
                <a:ea typeface="Courier New"/>
                <a:cs typeface="Courier New"/>
                <a:sym typeface="Courier New"/>
              </a:rPr>
              <a:t>The random forest model is the better model. This is because the mean test error is much lower than the mean test error of the logistic regression model (23-26% compared to 43.7-44.7%).</a:t>
            </a:r>
            <a:endParaRPr sz="1750" b="1" dirty="0">
              <a:solidFill>
                <a:schemeClr val="tx1"/>
              </a:solidFill>
              <a:latin typeface="Courier New"/>
              <a:ea typeface="Courier New"/>
              <a:cs typeface="Courier New"/>
              <a:sym typeface="Courier New"/>
            </a:endParaRPr>
          </a:p>
        </p:txBody>
      </p:sp>
      <p:sp>
        <p:nvSpPr>
          <p:cNvPr id="81" name="Google Shape;81;p16"/>
          <p:cNvSpPr txBox="1">
            <a:spLocks noGrp="1"/>
          </p:cNvSpPr>
          <p:nvPr>
            <p:ph type="body" idx="1"/>
          </p:nvPr>
        </p:nvSpPr>
        <p:spPr>
          <a:xfrm>
            <a:off x="311698" y="2626834"/>
            <a:ext cx="8578144" cy="2099402"/>
          </a:xfrm>
          <a:prstGeom prst="rect">
            <a:avLst/>
          </a:prstGeom>
          <a:solidFill>
            <a:srgbClr val="FFFF00">
              <a:alpha val="50000"/>
            </a:srgbClr>
          </a:solidFill>
        </p:spPr>
        <p:txBody>
          <a:bodyPr spcFirstLastPara="1" wrap="square" lIns="91425" tIns="91425" rIns="91425" bIns="91425" anchor="t" anchorCtr="0">
            <a:noAutofit/>
          </a:bodyPr>
          <a:lstStyle/>
          <a:p>
            <a:pPr marL="0" indent="0" algn="ctr">
              <a:lnSpc>
                <a:spcPct val="100000"/>
              </a:lnSpc>
              <a:buSzPts val="852"/>
              <a:buNone/>
            </a:pPr>
            <a:r>
              <a:rPr lang="en-US" sz="2500" dirty="0">
                <a:solidFill>
                  <a:schemeClr val="tx1"/>
                </a:solidFill>
                <a:latin typeface="Lobster"/>
                <a:ea typeface="Lobster"/>
                <a:cs typeface="Lobster"/>
                <a:sym typeface="Lobster"/>
              </a:rPr>
              <a:t>Variable significance</a:t>
            </a:r>
            <a:endParaRPr lang="en" sz="2500" b="1" dirty="0">
              <a:solidFill>
                <a:schemeClr val="tx1"/>
              </a:solidFill>
              <a:latin typeface="Courier New"/>
              <a:ea typeface="Courier New"/>
              <a:cs typeface="Courier New"/>
              <a:sym typeface="Courier New"/>
            </a:endParaRPr>
          </a:p>
          <a:p>
            <a:pPr marL="0" lvl="0" indent="0" algn="ctr" rtl="0">
              <a:spcBef>
                <a:spcPts val="0"/>
              </a:spcBef>
              <a:spcAft>
                <a:spcPts val="1200"/>
              </a:spcAft>
              <a:buSzPts val="852"/>
              <a:buNone/>
            </a:pPr>
            <a:r>
              <a:rPr lang="en" sz="1750" b="1" dirty="0">
                <a:solidFill>
                  <a:schemeClr val="tx1"/>
                </a:solidFill>
                <a:latin typeface="Courier New"/>
                <a:ea typeface="Courier New"/>
                <a:cs typeface="Courier New"/>
                <a:sym typeface="Courier New"/>
              </a:rPr>
              <a:t>Both models found that the age and premise of the victim was a highly significant variable in determine whether the crime was violent or not. Both models found that the area within Los Angeles was unimportant within determining whether the crime was violent or not</a:t>
            </a:r>
            <a:endParaRPr sz="1750" b="1" dirty="0">
              <a:solidFill>
                <a:schemeClr val="tx1"/>
              </a:solidFill>
              <a:latin typeface="Courier New"/>
              <a:ea typeface="Courier New"/>
              <a:cs typeface="Courier New"/>
              <a:sym typeface="Courier New"/>
            </a:endParaRPr>
          </a:p>
        </p:txBody>
      </p:sp>
    </p:spTree>
  </p:cSld>
  <p:clrMapOvr>
    <a:masterClrMapping/>
  </p:clrMapOvr>
  <mc:AlternateContent xmlns:mc="http://schemas.openxmlformats.org/markup-compatibility/2006">
    <mc:Choice xmlns:p14="http://schemas.microsoft.com/office/powerpoint/2010/main" Requires="p14">
      <p:transition p14:dur="400">
        <p14:flash/>
      </p:transition>
    </mc:Choice>
    <mc:Fallback>
      <p:transition>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223</Words>
  <Application>Microsoft Office PowerPoint</Application>
  <PresentationFormat>On-screen Show (16:9)</PresentationFormat>
  <Paragraphs>24</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Nordique Inline</vt:lpstr>
      <vt:lpstr>Impact</vt:lpstr>
      <vt:lpstr>Courier New</vt:lpstr>
      <vt:lpstr>Georgia</vt:lpstr>
      <vt:lpstr>Lobster</vt:lpstr>
      <vt:lpstr>Ravie</vt:lpstr>
      <vt:lpstr>Arial</vt:lpstr>
      <vt:lpstr>Simple Light</vt:lpstr>
      <vt:lpstr>PowerPoint Presentation</vt:lpstr>
      <vt:lpstr>PowerPoint Presentation</vt:lpstr>
      <vt:lpstr>Random Forest Model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Max</cp:lastModifiedBy>
  <cp:revision>38</cp:revision>
  <dcterms:modified xsi:type="dcterms:W3CDTF">2024-11-25T18:36:35Z</dcterms:modified>
</cp:coreProperties>
</file>